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Caveat"/>
      <p:regular r:id="rId26"/>
      <p:bold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Caveat Medium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A5B15A-A2DC-4734-865B-D4FAB9FCB5A0}">
  <a:tblStyle styleId="{1EA5B15A-A2DC-4734-865B-D4FAB9FCB5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regular.fntdata"/><Relationship Id="rId21" Type="http://schemas.openxmlformats.org/officeDocument/2006/relationships/slide" Target="slides/slide15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aveat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regular.fntdata"/><Relationship Id="rId27" Type="http://schemas.openxmlformats.org/officeDocument/2006/relationships/font" Target="fonts/Cave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33" Type="http://schemas.openxmlformats.org/officeDocument/2006/relationships/font" Target="fonts/CaveatMedium-bold.fntdata"/><Relationship Id="rId10" Type="http://schemas.openxmlformats.org/officeDocument/2006/relationships/slide" Target="slides/slide4.xml"/><Relationship Id="rId32" Type="http://schemas.openxmlformats.org/officeDocument/2006/relationships/font" Target="fonts/CaveatMedium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c94b13ef7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c94b13ef7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c94b13ef7_5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fc94b13ef7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c94b13ef7_4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c94b13ef7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fc94b13ef7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fc94b13ef7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23630543_1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72363054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892cb683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0892cb683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c94b13ef7_0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fc94b13ef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c94b13ef7_1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fc94b13ef7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fc94b13ef7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fc94b13ef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c94b13ef7_1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c94b13ef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cb9a0b074_1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cb9a0b07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fc94b13e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fc94b13e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etpocket.com/" TargetMode="External"/><Relationship Id="rId4" Type="http://schemas.openxmlformats.org/officeDocument/2006/relationships/hyperlink" Target="https://getpocket.com/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hyperlink" Target="https://hypothes.is/" TargetMode="External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hyperlink" Target="https://raindrop.io/" TargetMode="External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hyperlink" Target="https://obsidian.md/" TargetMode="External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etpocket.com/" TargetMode="External"/><Relationship Id="rId4" Type="http://schemas.openxmlformats.org/officeDocument/2006/relationships/hyperlink" Target="https://getpocket.com/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nota•bene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CSE 326 - Information System Design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 1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2174000" y="191600"/>
            <a:ext cx="5035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Recommendations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1383000" y="885750"/>
            <a:ext cx="6552600" cy="14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Suggesting popular notes or </a:t>
            </a:r>
            <a:br>
              <a:rPr b="0" lang="en" sz="1800">
                <a:latin typeface="Lato"/>
                <a:ea typeface="Lato"/>
                <a:cs typeface="Lato"/>
                <a:sym typeface="Lato"/>
              </a:rPr>
            </a:br>
            <a:r>
              <a:rPr b="0" lang="en" sz="1800">
                <a:latin typeface="Lato"/>
                <a:ea typeface="Lato"/>
                <a:cs typeface="Lato"/>
                <a:sym typeface="Lato"/>
              </a:rPr>
              <a:t>similar content consumed by users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000" u="sng">
                <a:hlinkClick r:id="rId3"/>
              </a:rPr>
              <a:t>Pocket</a:t>
            </a:r>
            <a:endParaRPr b="0" sz="2000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 u="sng">
                <a:latin typeface="Lato"/>
                <a:ea typeface="Lato"/>
                <a:cs typeface="Lato"/>
                <a:sym typeface="Lato"/>
                <a:hlinkClick r:id="rId4"/>
              </a:rPr>
              <a:t>Pocket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1425" y="2526701"/>
            <a:ext cx="6378551" cy="247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2350" y="1841400"/>
            <a:ext cx="329000" cy="29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4879325" y="4172300"/>
            <a:ext cx="3877200" cy="47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>
            <p:ph type="title"/>
          </p:nvPr>
        </p:nvSpPr>
        <p:spPr>
          <a:xfrm>
            <a:off x="198125" y="782325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88" name="Google Shape;88;p15"/>
          <p:cNvSpPr txBox="1"/>
          <p:nvPr>
            <p:ph idx="1" type="subTitle"/>
          </p:nvPr>
        </p:nvSpPr>
        <p:spPr>
          <a:xfrm>
            <a:off x="1448525" y="2267150"/>
            <a:ext cx="1544400" cy="13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aveat"/>
                <a:ea typeface="Caveat"/>
                <a:cs typeface="Caveat"/>
                <a:sym typeface="Caveat"/>
              </a:rPr>
              <a:t>How do we store ideas? </a:t>
            </a:r>
            <a:endParaRPr b="1" sz="2600"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9325" y="2829975"/>
            <a:ext cx="2777700" cy="1686900"/>
          </a:xfrm>
          <a:prstGeom prst="roundRect">
            <a:avLst>
              <a:gd fmla="val 6084" name="adj"/>
            </a:avLst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5458800" y="2225275"/>
            <a:ext cx="474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15000 notes (Every dot is a note)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5800800" y="4647250"/>
            <a:ext cx="257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15000 notes on paper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9325" y="333725"/>
            <a:ext cx="2777700" cy="1686900"/>
          </a:xfrm>
          <a:prstGeom prst="roundRect">
            <a:avLst>
              <a:gd fmla="val 7103" name="adj"/>
            </a:avLst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0713" y="3636194"/>
            <a:ext cx="860026" cy="86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4817050" y="699875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Motivation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-333612" y="1617875"/>
            <a:ext cx="474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Too many tabs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550" y="117325"/>
            <a:ext cx="292417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575" y="2266950"/>
            <a:ext cx="3552991" cy="23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-333612" y="4568825"/>
            <a:ext cx="474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Save in a group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6"/>
          <p:cNvSpPr txBox="1"/>
          <p:nvPr>
            <p:ph idx="1" type="subTitle"/>
          </p:nvPr>
        </p:nvSpPr>
        <p:spPr>
          <a:xfrm>
            <a:off x="4849975" y="197503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highlight>
                  <a:schemeClr val="dk1"/>
                </a:highlight>
                <a:latin typeface="Caveat"/>
                <a:ea typeface="Caveat"/>
                <a:cs typeface="Caveat"/>
                <a:sym typeface="Caveat"/>
              </a:rPr>
              <a:t>How can we </a:t>
            </a:r>
            <a:endParaRPr b="1" sz="2600">
              <a:solidFill>
                <a:schemeClr val="lt1"/>
              </a:solidFill>
              <a:highlight>
                <a:schemeClr val="dk1"/>
              </a:highlight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highlight>
                  <a:schemeClr val="dk1"/>
                </a:highlight>
                <a:latin typeface="Caveat"/>
                <a:ea typeface="Caveat"/>
                <a:cs typeface="Caveat"/>
                <a:sym typeface="Caveat"/>
              </a:rPr>
              <a:t>keep it tidy?</a:t>
            </a:r>
            <a:endParaRPr b="1" sz="2600">
              <a:solidFill>
                <a:schemeClr val="lt1"/>
              </a:solidFill>
              <a:highlight>
                <a:schemeClr val="dk1"/>
              </a:highlight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879325" y="4172300"/>
            <a:ext cx="3877200" cy="47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3687" y="3177800"/>
            <a:ext cx="1171924" cy="117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27400" y="994400"/>
            <a:ext cx="2694900" cy="9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11" name="Google Shape;111;p17"/>
          <p:cNvSpPr txBox="1"/>
          <p:nvPr>
            <p:ph idx="1" type="subTitle"/>
          </p:nvPr>
        </p:nvSpPr>
        <p:spPr>
          <a:xfrm>
            <a:off x="289775" y="2028975"/>
            <a:ext cx="26949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veat Medium"/>
                <a:ea typeface="Caveat Medium"/>
                <a:cs typeface="Caveat Medium"/>
                <a:sym typeface="Caveat Medium"/>
              </a:rPr>
              <a:t>Add your </a:t>
            </a:r>
            <a:endParaRPr sz="2400">
              <a:latin typeface="Caveat Medium"/>
              <a:ea typeface="Caveat Medium"/>
              <a:cs typeface="Caveat Medium"/>
              <a:sym typeface="Cave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highlight>
                  <a:srgbClr val="FFFF00"/>
                </a:highlight>
                <a:latin typeface="Caveat Medium"/>
                <a:ea typeface="Caveat Medium"/>
                <a:cs typeface="Caveat Medium"/>
                <a:sym typeface="Caveat Medium"/>
              </a:rPr>
              <a:t>own perspective</a:t>
            </a:r>
            <a:r>
              <a:rPr lang="en" sz="2400">
                <a:latin typeface="Caveat Medium"/>
                <a:ea typeface="Caveat Medium"/>
                <a:cs typeface="Caveat Medium"/>
                <a:sym typeface="Caveat Medium"/>
              </a:rPr>
              <a:t> </a:t>
            </a:r>
            <a:endParaRPr sz="2400">
              <a:latin typeface="Caveat Medium"/>
              <a:ea typeface="Caveat Medium"/>
              <a:cs typeface="Caveat Medium"/>
              <a:sym typeface="Cave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veat Medium"/>
                <a:ea typeface="Caveat Medium"/>
                <a:cs typeface="Caveat Medium"/>
                <a:sym typeface="Caveat Medium"/>
              </a:rPr>
              <a:t>in an article!</a:t>
            </a:r>
            <a:endParaRPr sz="2400"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558625" y="0"/>
            <a:ext cx="4585500" cy="516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0025" y="900100"/>
            <a:ext cx="5528751" cy="34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4988" y="3460925"/>
            <a:ext cx="764475" cy="76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8"/>
          <p:cNvGrpSpPr/>
          <p:nvPr/>
        </p:nvGrpSpPr>
        <p:grpSpPr>
          <a:xfrm>
            <a:off x="0" y="1970075"/>
            <a:ext cx="6296476" cy="3173425"/>
            <a:chOff x="252250" y="851500"/>
            <a:chExt cx="6296476" cy="3173425"/>
          </a:xfrm>
        </p:grpSpPr>
        <p:pic>
          <p:nvPicPr>
            <p:cNvPr id="120" name="Google Shape;120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2250" y="851500"/>
              <a:ext cx="6296476" cy="3173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8"/>
            <p:cNvSpPr/>
            <p:nvPr/>
          </p:nvSpPr>
          <p:spPr>
            <a:xfrm>
              <a:off x="4214675" y="948800"/>
              <a:ext cx="2334000" cy="27864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/>
        </p:nvSpPr>
        <p:spPr>
          <a:xfrm>
            <a:off x="5473375" y="635650"/>
            <a:ext cx="41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Highlighting</a:t>
            </a:r>
            <a:endParaRPr b="1" sz="2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081800" y="1374550"/>
            <a:ext cx="2635200" cy="32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The annotating and highlighting feature of the browser extension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   </a:t>
            </a:r>
            <a:r>
              <a:rPr b="0" lang="en" sz="2000" u="sng">
                <a:hlinkClick r:id="rId4"/>
              </a:rPr>
              <a:t>hypothes.is</a:t>
            </a:r>
            <a:endParaRPr b="0" sz="2000"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9275" y="2917825"/>
            <a:ext cx="251175" cy="2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10666" r="0" t="5114"/>
          <a:stretch/>
        </p:blipFill>
        <p:spPr>
          <a:xfrm>
            <a:off x="3955100" y="1584925"/>
            <a:ext cx="5197025" cy="355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-159700" y="790795"/>
            <a:ext cx="41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Categorization</a:t>
            </a:r>
            <a:endParaRPr b="1" sz="2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19"/>
          <p:cNvSpPr txBox="1"/>
          <p:nvPr>
            <p:ph type="title"/>
          </p:nvPr>
        </p:nvSpPr>
        <p:spPr>
          <a:xfrm>
            <a:off x="133075" y="1611799"/>
            <a:ext cx="33159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Organize articles in a folder system</a:t>
            </a:r>
            <a:br>
              <a:rPr b="0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b="0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chemeClr val="lt1"/>
                </a:solidFill>
              </a:rPr>
              <a:t> </a:t>
            </a:r>
            <a:r>
              <a:rPr b="0" lang="en" sz="2000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Raindrop.io</a:t>
            </a:r>
            <a:endParaRPr b="0" sz="2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2413" y="2777750"/>
            <a:ext cx="597224" cy="47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124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025" y="536100"/>
            <a:ext cx="5818024" cy="407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>
            <p:ph type="title"/>
          </p:nvPr>
        </p:nvSpPr>
        <p:spPr>
          <a:xfrm>
            <a:off x="-15925" y="1038500"/>
            <a:ext cx="2860500" cy="14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Cross</a:t>
            </a:r>
            <a:br>
              <a:rPr lang="en" sz="3600">
                <a:solidFill>
                  <a:schemeClr val="dk1"/>
                </a:solidFill>
              </a:rPr>
            </a:br>
            <a:r>
              <a:rPr lang="en" sz="3600">
                <a:solidFill>
                  <a:schemeClr val="dk1"/>
                </a:solidFill>
              </a:rPr>
              <a:t>Reference</a:t>
            </a:r>
            <a:endParaRPr sz="2400"/>
          </a:p>
        </p:txBody>
      </p:sp>
      <p:sp>
        <p:nvSpPr>
          <p:cNvPr id="139" name="Google Shape;139;p20"/>
          <p:cNvSpPr txBox="1"/>
          <p:nvPr>
            <p:ph type="title"/>
          </p:nvPr>
        </p:nvSpPr>
        <p:spPr>
          <a:xfrm>
            <a:off x="194675" y="2408600"/>
            <a:ext cx="2439300" cy="1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Connect related topics</a:t>
            </a:r>
            <a:endParaRPr b="0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en" sz="2000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Obsidian</a:t>
            </a:r>
            <a:endParaRPr b="0" sz="2000">
              <a:solidFill>
                <a:schemeClr val="lt1"/>
              </a:solidFill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675" y="3234050"/>
            <a:ext cx="440050" cy="4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idx="4294967295" type="title"/>
          </p:nvPr>
        </p:nvSpPr>
        <p:spPr>
          <a:xfrm>
            <a:off x="2174000" y="191600"/>
            <a:ext cx="5035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Recommendations</a:t>
            </a:r>
            <a:endParaRPr sz="2400"/>
          </a:p>
        </p:txBody>
      </p:sp>
      <p:sp>
        <p:nvSpPr>
          <p:cNvPr id="146" name="Google Shape;146;p21"/>
          <p:cNvSpPr txBox="1"/>
          <p:nvPr>
            <p:ph idx="4294967295" type="title"/>
          </p:nvPr>
        </p:nvSpPr>
        <p:spPr>
          <a:xfrm>
            <a:off x="1383000" y="885750"/>
            <a:ext cx="6552600" cy="14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Suggesting popular notes or </a:t>
            </a:r>
            <a:br>
              <a:rPr b="0" lang="en" sz="1800">
                <a:latin typeface="Lato"/>
                <a:ea typeface="Lato"/>
                <a:cs typeface="Lato"/>
                <a:sym typeface="Lato"/>
              </a:rPr>
            </a:br>
            <a:r>
              <a:rPr b="0" lang="en" sz="1800">
                <a:latin typeface="Lato"/>
                <a:ea typeface="Lato"/>
                <a:cs typeface="Lato"/>
                <a:sym typeface="Lato"/>
              </a:rPr>
              <a:t>similar content consumed by users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000" u="sng">
                <a:hlinkClick r:id="rId3"/>
              </a:rPr>
              <a:t>Pocket</a:t>
            </a:r>
            <a:endParaRPr b="0" sz="2000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1800" u="sng">
                <a:latin typeface="Lato"/>
                <a:ea typeface="Lato"/>
                <a:cs typeface="Lato"/>
                <a:sym typeface="Lato"/>
                <a:hlinkClick r:id="rId4"/>
              </a:rPr>
              <a:t>Pocket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1425" y="2526701"/>
            <a:ext cx="6378551" cy="247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2350" y="1841400"/>
            <a:ext cx="329000" cy="29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/>
        </p:nvSpPr>
        <p:spPr>
          <a:xfrm>
            <a:off x="892600" y="2050600"/>
            <a:ext cx="263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Features</a:t>
            </a:r>
            <a:endParaRPr b="1" sz="44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4" name="Google Shape;154;p22"/>
          <p:cNvSpPr txBox="1"/>
          <p:nvPr>
            <p:ph idx="2" type="body"/>
          </p:nvPr>
        </p:nvSpPr>
        <p:spPr>
          <a:xfrm>
            <a:off x="5296225" y="1969625"/>
            <a:ext cx="3343500" cy="21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Raleway"/>
                <a:ea typeface="Raleway"/>
                <a:cs typeface="Raleway"/>
                <a:sym typeface="Raleway"/>
              </a:rPr>
              <a:t>Highlighting</a:t>
            </a:r>
            <a:endParaRPr b="1" sz="2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Annotating online articles real-time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from browser extension and add supplementary notes.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9787" y="644875"/>
            <a:ext cx="1036375" cy="10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892600" y="2050600"/>
            <a:ext cx="263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Features</a:t>
            </a:r>
            <a:endParaRPr b="1" sz="44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23"/>
          <p:cNvSpPr txBox="1"/>
          <p:nvPr>
            <p:ph idx="2" type="body"/>
          </p:nvPr>
        </p:nvSpPr>
        <p:spPr>
          <a:xfrm>
            <a:off x="5296225" y="1969625"/>
            <a:ext cx="3343500" cy="21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Raleway"/>
                <a:ea typeface="Raleway"/>
                <a:cs typeface="Raleway"/>
                <a:sym typeface="Raleway"/>
              </a:rPr>
              <a:t>Rich note taking</a:t>
            </a:r>
            <a:endParaRPr b="1" sz="2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Notes displayed in our website for further modifications with markdown &amp; media support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9250" y="520550"/>
            <a:ext cx="1160675" cy="11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/>
        </p:nvSpPr>
        <p:spPr>
          <a:xfrm>
            <a:off x="892600" y="2050600"/>
            <a:ext cx="263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Features</a:t>
            </a:r>
            <a:endParaRPr b="1" sz="44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8" name="Google Shape;168;p24"/>
          <p:cNvSpPr txBox="1"/>
          <p:nvPr>
            <p:ph idx="2" type="body"/>
          </p:nvPr>
        </p:nvSpPr>
        <p:spPr>
          <a:xfrm>
            <a:off x="5296225" y="1969625"/>
            <a:ext cx="3343500" cy="21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Raleway"/>
                <a:ea typeface="Raleway"/>
                <a:cs typeface="Raleway"/>
                <a:sym typeface="Raleway"/>
              </a:rPr>
              <a:t>Categorization</a:t>
            </a:r>
            <a:endParaRPr b="1" sz="2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Arrange in hierarchy using tags and folder hierarchy to get what they want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3012" y="556525"/>
            <a:ext cx="1249925" cy="1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892600" y="2050600"/>
            <a:ext cx="263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Features</a:t>
            </a:r>
            <a:endParaRPr b="1" sz="44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5" name="Google Shape;175;p25"/>
          <p:cNvSpPr txBox="1"/>
          <p:nvPr>
            <p:ph idx="2" type="body"/>
          </p:nvPr>
        </p:nvSpPr>
        <p:spPr>
          <a:xfrm>
            <a:off x="5296225" y="1969625"/>
            <a:ext cx="3343500" cy="21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Raleway"/>
                <a:ea typeface="Raleway"/>
                <a:cs typeface="Raleway"/>
                <a:sym typeface="Raleway"/>
              </a:rPr>
              <a:t>Cross reference</a:t>
            </a:r>
            <a:endParaRPr b="1" sz="2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Form connections in a graph to gain new insights from disparate notes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425" y="505025"/>
            <a:ext cx="1150500" cy="115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76920"/>
          </a:srgbClr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/>
        </p:nvSpPr>
        <p:spPr>
          <a:xfrm>
            <a:off x="3441000" y="2271550"/>
            <a:ext cx="2351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Modules</a:t>
            </a:r>
            <a:endParaRPr b="1" sz="3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139025" y="173775"/>
            <a:ext cx="3336300" cy="2397900"/>
          </a:xfrm>
          <a:prstGeom prst="foldedCorner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Notes</a:t>
            </a:r>
            <a:endParaRPr b="1" sz="2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Markdown Support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Storage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Web application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Sharing publicly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3" name="Google Shape;183;p26"/>
          <p:cNvSpPr/>
          <p:nvPr/>
        </p:nvSpPr>
        <p:spPr>
          <a:xfrm flipH="1">
            <a:off x="5703000" y="173775"/>
            <a:ext cx="3230400" cy="2445900"/>
          </a:xfrm>
          <a:prstGeom prst="foldedCorner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Highlights</a:t>
            </a:r>
            <a:endParaRPr b="1" sz="2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Browser Extension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Storage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4" name="Google Shape;184;p26"/>
          <p:cNvSpPr/>
          <p:nvPr/>
        </p:nvSpPr>
        <p:spPr>
          <a:xfrm flipH="1" rot="10800000">
            <a:off x="150600" y="2677800"/>
            <a:ext cx="3324600" cy="2397900"/>
          </a:xfrm>
          <a:prstGeom prst="foldedCorner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2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100"/>
              <a:buFont typeface="Arial"/>
              <a:buNone/>
            </a:pPr>
            <a:br>
              <a:rPr lang="en" sz="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" name="Google Shape;185;p26"/>
          <p:cNvSpPr/>
          <p:nvPr/>
        </p:nvSpPr>
        <p:spPr>
          <a:xfrm rot="10800000">
            <a:off x="5703075" y="2747925"/>
            <a:ext cx="3251700" cy="2333400"/>
          </a:xfrm>
          <a:prstGeom prst="foldedCorner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6"/>
          <p:cNvSpPr txBox="1"/>
          <p:nvPr/>
        </p:nvSpPr>
        <p:spPr>
          <a:xfrm>
            <a:off x="231700" y="3106825"/>
            <a:ext cx="3251700" cy="1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Categorization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Tags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Folder hierarchy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Cross Reference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5747550" y="3168225"/>
            <a:ext cx="3141300" cy="14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Recommendation</a:t>
            </a:r>
            <a:endParaRPr b="1" sz="2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Topic Suggestions</a:t>
            </a:r>
            <a:endParaRPr sz="17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aleway"/>
              <a:buChar char="◆"/>
            </a:pPr>
            <a:r>
              <a:rPr lang="en" sz="17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Note Suggestions</a:t>
            </a:r>
            <a:endParaRPr b="1" sz="2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625" y="1018475"/>
            <a:ext cx="1253075" cy="12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283100" y="434125"/>
            <a:ext cx="8631600" cy="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Distribution of Upcoming Presentations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648725" y="1726075"/>
            <a:ext cx="817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95" name="Google Shape;195;p27"/>
          <p:cNvGraphicFramePr/>
          <p:nvPr/>
        </p:nvGraphicFramePr>
        <p:xfrm>
          <a:off x="573450" y="130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{1EA5B15A-A2DC-4734-865B-D4FAB9FCB5A0}</a:tableStyleId>
              </a:tblPr>
              <a:tblGrid>
                <a:gridCol w="926825"/>
                <a:gridCol w="3302500"/>
                <a:gridCol w="1924875"/>
                <a:gridCol w="1896700"/>
              </a:tblGrid>
              <a:tr h="44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Presentations</a:t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Student ID</a:t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Scope fixation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1705038,</a:t>
                      </a:r>
                      <a:b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1705039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Fardin Hossain Oyon,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Tahmeed Tarek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Requirements analysis using BPMN diagram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1705037</a:t>
                      </a:r>
                      <a:endParaRPr sz="15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Mushtari Sadia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Mock UI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1705039</a:t>
                      </a:r>
                      <a:endParaRPr sz="5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Tahmeed Tarek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 diagram + ER diagram in applicable cases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1705036,</a:t>
                      </a:r>
                      <a:endParaRPr sz="15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1705044</a:t>
                      </a:r>
                      <a:endParaRPr sz="15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Ayan Antik Khan,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Najibul Haque Sarker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Interaction diagram + State diagram in applicable cases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1705032,</a:t>
                      </a:r>
                      <a:endParaRPr sz="15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1705038</a:t>
                      </a:r>
                      <a:endParaRPr sz="15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Tanjim Ahmed Khan,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Fardin Hossain</a:t>
                      </a:r>
                      <a:endParaRPr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